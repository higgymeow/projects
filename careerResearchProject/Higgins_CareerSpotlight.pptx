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84" autoAdjust="0"/>
    <p:restoredTop sz="90775" autoAdjust="0"/>
  </p:normalViewPr>
  <p:slideViewPr>
    <p:cSldViewPr snapToGrid="0">
      <p:cViewPr>
        <p:scale>
          <a:sx n="75" d="100"/>
          <a:sy n="75" d="100"/>
        </p:scale>
        <p:origin x="168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ggins, Maxwell" userId="cd659bc0-c348-48c8-81fd-d1d158416d29" providerId="ADAL" clId="{D0B6DC7D-7698-4650-8EF7-B651044F8AE7}"/>
    <pc:docChg chg="undo custSel addSld modSld sldOrd">
      <pc:chgData name="Higgins, Maxwell" userId="cd659bc0-c348-48c8-81fd-d1d158416d29" providerId="ADAL" clId="{D0B6DC7D-7698-4650-8EF7-B651044F8AE7}" dt="2025-11-04T15:03:45.211" v="365" actId="962"/>
      <pc:docMkLst>
        <pc:docMk/>
      </pc:docMkLst>
      <pc:sldChg chg="ord modTransition">
        <pc:chgData name="Higgins, Maxwell" userId="cd659bc0-c348-48c8-81fd-d1d158416d29" providerId="ADAL" clId="{D0B6DC7D-7698-4650-8EF7-B651044F8AE7}" dt="2025-11-04T15:02:10.443" v="258"/>
        <pc:sldMkLst>
          <pc:docMk/>
          <pc:sldMk cId="2249796209" sldId="256"/>
        </pc:sldMkLst>
      </pc:sldChg>
      <pc:sldChg chg="modTransition modAnim">
        <pc:chgData name="Higgins, Maxwell" userId="cd659bc0-c348-48c8-81fd-d1d158416d29" providerId="ADAL" clId="{D0B6DC7D-7698-4650-8EF7-B651044F8AE7}" dt="2025-11-04T15:02:31.751" v="261"/>
        <pc:sldMkLst>
          <pc:docMk/>
          <pc:sldMk cId="1894960331" sldId="257"/>
        </pc:sldMkLst>
      </pc:sldChg>
      <pc:sldChg chg="modTransition modAnim">
        <pc:chgData name="Higgins, Maxwell" userId="cd659bc0-c348-48c8-81fd-d1d158416d29" providerId="ADAL" clId="{D0B6DC7D-7698-4650-8EF7-B651044F8AE7}" dt="2025-11-04T15:02:45.817" v="265"/>
        <pc:sldMkLst>
          <pc:docMk/>
          <pc:sldMk cId="847764296" sldId="258"/>
        </pc:sldMkLst>
      </pc:sldChg>
      <pc:sldChg chg="modTransition modAnim">
        <pc:chgData name="Higgins, Maxwell" userId="cd659bc0-c348-48c8-81fd-d1d158416d29" providerId="ADAL" clId="{D0B6DC7D-7698-4650-8EF7-B651044F8AE7}" dt="2025-11-04T15:02:54.434" v="268"/>
        <pc:sldMkLst>
          <pc:docMk/>
          <pc:sldMk cId="3326340464" sldId="259"/>
        </pc:sldMkLst>
      </pc:sldChg>
      <pc:sldChg chg="modSp mod modTransition modAnim">
        <pc:chgData name="Higgins, Maxwell" userId="cd659bc0-c348-48c8-81fd-d1d158416d29" providerId="ADAL" clId="{D0B6DC7D-7698-4650-8EF7-B651044F8AE7}" dt="2025-11-04T15:03:09.634" v="272"/>
        <pc:sldMkLst>
          <pc:docMk/>
          <pc:sldMk cId="1349519711" sldId="260"/>
        </pc:sldMkLst>
        <pc:graphicFrameChg chg="mod">
          <ac:chgData name="Higgins, Maxwell" userId="cd659bc0-c348-48c8-81fd-d1d158416d29" providerId="ADAL" clId="{D0B6DC7D-7698-4650-8EF7-B651044F8AE7}" dt="2025-11-04T14:29:13.500" v="195" actId="962"/>
          <ac:graphicFrameMkLst>
            <pc:docMk/>
            <pc:sldMk cId="1349519711" sldId="260"/>
            <ac:graphicFrameMk id="7" creationId="{7BC1878D-F290-48CF-8B6E-0D652119D14D}"/>
          </ac:graphicFrameMkLst>
        </pc:graphicFrameChg>
      </pc:sldChg>
      <pc:sldChg chg="modTransition modAnim">
        <pc:chgData name="Higgins, Maxwell" userId="cd659bc0-c348-48c8-81fd-d1d158416d29" providerId="ADAL" clId="{D0B6DC7D-7698-4650-8EF7-B651044F8AE7}" dt="2025-11-04T15:03:21.250" v="276"/>
        <pc:sldMkLst>
          <pc:docMk/>
          <pc:sldMk cId="1851406750" sldId="261"/>
        </pc:sldMkLst>
      </pc:sldChg>
      <pc:sldChg chg="addSp delSp modSp mod modTransition modAnim">
        <pc:chgData name="Higgins, Maxwell" userId="cd659bc0-c348-48c8-81fd-d1d158416d29" providerId="ADAL" clId="{D0B6DC7D-7698-4650-8EF7-B651044F8AE7}" dt="2025-11-04T15:03:45.211" v="365" actId="962"/>
        <pc:sldMkLst>
          <pc:docMk/>
          <pc:sldMk cId="3988859779" sldId="262"/>
        </pc:sldMkLst>
        <pc:spChg chg="mod">
          <ac:chgData name="Higgins, Maxwell" userId="cd659bc0-c348-48c8-81fd-d1d158416d29" providerId="ADAL" clId="{D0B6DC7D-7698-4650-8EF7-B651044F8AE7}" dt="2025-11-04T14:29:33.290" v="223" actId="20577"/>
          <ac:spMkLst>
            <pc:docMk/>
            <pc:sldMk cId="3988859779" sldId="262"/>
            <ac:spMk id="2" creationId="{E99FF707-A09E-4083-BA4C-106745C1220F}"/>
          </ac:spMkLst>
        </pc:spChg>
        <pc:spChg chg="add del mod">
          <ac:chgData name="Higgins, Maxwell" userId="cd659bc0-c348-48c8-81fd-d1d158416d29" providerId="ADAL" clId="{D0B6DC7D-7698-4650-8EF7-B651044F8AE7}" dt="2025-11-04T14:59:27.506" v="228" actId="21"/>
          <ac:spMkLst>
            <pc:docMk/>
            <pc:sldMk cId="3988859779" sldId="262"/>
            <ac:spMk id="6" creationId="{1904ED8E-6C11-4A8A-A69A-39E8306CDA93}"/>
          </ac:spMkLst>
        </pc:spChg>
        <pc:graphicFrameChg chg="del mod">
          <ac:chgData name="Higgins, Maxwell" userId="cd659bc0-c348-48c8-81fd-d1d158416d29" providerId="ADAL" clId="{D0B6DC7D-7698-4650-8EF7-B651044F8AE7}" dt="2025-11-04T14:29:38.846" v="224" actId="21"/>
          <ac:graphicFrameMkLst>
            <pc:docMk/>
            <pc:sldMk cId="3988859779" sldId="262"/>
            <ac:graphicFrameMk id="4" creationId="{DBAE034E-31EB-4014-91C3-29D532F4F0AC}"/>
          </ac:graphicFrameMkLst>
        </pc:graphicFrameChg>
        <pc:graphicFrameChg chg="mod">
          <ac:chgData name="Higgins, Maxwell" userId="cd659bc0-c348-48c8-81fd-d1d158416d29" providerId="ADAL" clId="{D0B6DC7D-7698-4650-8EF7-B651044F8AE7}" dt="2025-11-04T15:03:45.211" v="365" actId="962"/>
          <ac:graphicFrameMkLst>
            <pc:docMk/>
            <pc:sldMk cId="3988859779" sldId="262"/>
            <ac:graphicFrameMk id="7" creationId="{BCBE5831-EE41-4D2A-ADD1-59FDA546DC35}"/>
          </ac:graphicFrameMkLst>
        </pc:graphicFrameChg>
      </pc:sldChg>
      <pc:sldChg chg="modSp new mod modTransition">
        <pc:chgData name="Higgins, Maxwell" userId="cd659bc0-c348-48c8-81fd-d1d158416d29" providerId="ADAL" clId="{D0B6DC7D-7698-4650-8EF7-B651044F8AE7}" dt="2025-11-04T15:02:10.443" v="258"/>
        <pc:sldMkLst>
          <pc:docMk/>
          <pc:sldMk cId="2598573421" sldId="263"/>
        </pc:sldMkLst>
        <pc:spChg chg="mod">
          <ac:chgData name="Higgins, Maxwell" userId="cd659bc0-c348-48c8-81fd-d1d158416d29" providerId="ADAL" clId="{D0B6DC7D-7698-4650-8EF7-B651044F8AE7}" dt="2025-11-04T14:59:44.920" v="242" actId="20577"/>
          <ac:spMkLst>
            <pc:docMk/>
            <pc:sldMk cId="2598573421" sldId="263"/>
            <ac:spMk id="2" creationId="{02F506A9-7C18-49F8-A5DA-C69FB18AA3FF}"/>
          </ac:spMkLst>
        </pc:spChg>
        <pc:spChg chg="mod">
          <ac:chgData name="Higgins, Maxwell" userId="cd659bc0-c348-48c8-81fd-d1d158416d29" providerId="ADAL" clId="{D0B6DC7D-7698-4650-8EF7-B651044F8AE7}" dt="2025-11-04T15:01:24.013" v="254"/>
          <ac:spMkLst>
            <pc:docMk/>
            <pc:sldMk cId="2598573421" sldId="263"/>
            <ac:spMk id="3" creationId="{AA6F6D73-6622-44A7-B4A2-353D104302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5456C-FD80-4ECE-B18B-EDFD691FA7A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F8304-29D7-4869-8353-8E17B00FB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8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F8304-29D7-4869-8353-8E17B00FB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67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 software engineer does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F8304-29D7-4869-8353-8E17B00FB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91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Educations and some skills that are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F8304-29D7-4869-8353-8E17B00FB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65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Salaries for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F8304-29D7-4869-8353-8E17B00FB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12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Job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F8304-29D7-4869-8353-8E17B00FB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40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63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81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9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0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6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8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98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0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B287875-3981-45F0-9D55-06D6AA4E6A3B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343E473-4798-473F-8CA0-786FA80BF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43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medinaccc-my.sharepoint.com/personal/mc_mhiggins26_mcjvs2_org/Documents/Higgins_CareerData.xlsx!Sheet1!R5C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https://medinaccc-my.sharepoint.com/personal/mc_mhiggins26_mcjvs2_org/Documents/Higgins_CareerData.xlsx!Sheet1!%5bHiggins_CareerData.xlsx%5dSheet1%20Chart%202" TargetMode="Externa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https://medinaccc-my.sharepoint.com/personal/mc_mhiggins26_mcjvs2_org/Documents/Higgins_CareerData2.xlsx!Sheet1!%5bHiggins_CareerData2.xlsx%5dSheet1%20Chart%20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bootcamps.umgc.edu/blog/software-engineering/what-does-a-software-engineer-do/" TargetMode="External"/><Relationship Id="rId2" Type="http://schemas.openxmlformats.org/officeDocument/2006/relationships/hyperlink" Target="https://github.com/42mcmaster/classProjects/blob/main/careerSpotlightPowerPoint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tuit.com/blog/innovative-thinking/what-does-a-software-engineer-d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7580-4C05-4BE9-8927-61982706C7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66BB8-F9B0-4A62-B3B7-B4BC9570B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Higgins, SEWD1 2026</a:t>
            </a:r>
          </a:p>
        </p:txBody>
      </p:sp>
    </p:spTree>
    <p:extLst>
      <p:ext uri="{BB962C8B-B14F-4D97-AF65-F5344CB8AC3E}">
        <p14:creationId xmlns:p14="http://schemas.microsoft.com/office/powerpoint/2010/main" val="224979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61EB-A859-4663-9E87-26B3C977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software engineers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603F-DAC0-4146-9AF6-C8AE970F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Designs and builds software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Tests software systems and 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Maintains software systems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94960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E582-D979-454A-8637-3132F55D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 and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1B6C8-71A3-486C-84D4-F538092CB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Minimum education required: A bachelor’s degree in computer science, software engineering, or a related field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Recommended education is the same as the minimum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Three Technical skills: programming languages, data structures, and algorithms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Three Soft Skills: strong communication, problem solving, adaptability, and teamwork</a:t>
            </a:r>
          </a:p>
        </p:txBody>
      </p:sp>
    </p:spTree>
    <p:extLst>
      <p:ext uri="{BB962C8B-B14F-4D97-AF65-F5344CB8AC3E}">
        <p14:creationId xmlns:p14="http://schemas.microsoft.com/office/powerpoint/2010/main" val="847764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A72A-BE2E-4D5B-A28D-961D7247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B594-C9EB-4124-A796-7060AF06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Entry-Level Salary Range: $65,000 to $120,000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Mid-Career Salary Range: $115,000 to $165,000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400" dirty="0"/>
              <a:t>Senior-Level Salary Range: $112,500 to $179,500</a:t>
            </a:r>
          </a:p>
        </p:txBody>
      </p:sp>
    </p:spTree>
    <p:extLst>
      <p:ext uri="{BB962C8B-B14F-4D97-AF65-F5344CB8AC3E}">
        <p14:creationId xmlns:p14="http://schemas.microsoft.com/office/powerpoint/2010/main" val="3326340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A795-A1E4-4E47-A776-F22D95C2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D1F1-F439-478B-BA2D-A8195E2C375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-501967" y="1732635"/>
            <a:ext cx="192405" cy="402336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254B48D-F5B1-498D-9F4C-CC78B00F2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594039"/>
              </p:ext>
            </p:extLst>
          </p:nvPr>
        </p:nvGraphicFramePr>
        <p:xfrm>
          <a:off x="5786438" y="3327400"/>
          <a:ext cx="6191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19149" imgH="200025" progId="Excel.Sheet.12">
                  <p:link updateAutomatic="1"/>
                </p:oleObj>
              </mc:Choice>
              <mc:Fallback>
                <p:oleObj name="Worksheet" r:id="rId3" imgW="619149" imgH="200025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254B48D-F5B1-498D-9F4C-CC78B00F24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6438" y="3327400"/>
                        <a:ext cx="619125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Job Outlook for 2024-2034&#10;">
            <a:extLst>
              <a:ext uri="{FF2B5EF4-FFF2-40B4-BE49-F238E27FC236}">
                <a16:creationId xmlns:a16="http://schemas.microsoft.com/office/drawing/2014/main" id="{7BC1878D-F290-48CF-8B6E-0D652119D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135020"/>
              </p:ext>
            </p:extLst>
          </p:nvPr>
        </p:nvGraphicFramePr>
        <p:xfrm>
          <a:off x="1097280" y="1737360"/>
          <a:ext cx="6688455" cy="401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81398" imgH="2752541" progId="Excel.Sheet.12">
                  <p:link updateAutomatic="1"/>
                </p:oleObj>
              </mc:Choice>
              <mc:Fallback>
                <p:oleObj name="Worksheet" r:id="rId5" imgW="4581398" imgH="2752541" progId="Excel.Sheet.12">
                  <p:link updateAutomatic="1"/>
                  <p:pic>
                    <p:nvPicPr>
                      <p:cNvPr id="7" name="Object 6" descr="Job Outlook for 2024-2034&#10;">
                        <a:extLst>
                          <a:ext uri="{FF2B5EF4-FFF2-40B4-BE49-F238E27FC236}">
                            <a16:creationId xmlns:a16="http://schemas.microsoft.com/office/drawing/2014/main" id="{7BC1878D-F290-48CF-8B6E-0D652119D1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7280" y="1737360"/>
                        <a:ext cx="6688455" cy="401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F49BB7-0E9E-4C49-A6A4-3BB703A7B6A9}"/>
              </a:ext>
            </a:extLst>
          </p:cNvPr>
          <p:cNvSpPr txBox="1"/>
          <p:nvPr/>
        </p:nvSpPr>
        <p:spPr>
          <a:xfrm>
            <a:off x="7785735" y="1845734"/>
            <a:ext cx="33699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job outlook for the next 10 years is supposed to grow a lot, with an expected job growth rate of 15%. This is much higher then almost every other occupation</a:t>
            </a:r>
          </a:p>
        </p:txBody>
      </p:sp>
    </p:spTree>
    <p:extLst>
      <p:ext uri="{BB962C8B-B14F-4D97-AF65-F5344CB8AC3E}">
        <p14:creationId xmlns:p14="http://schemas.microsoft.com/office/powerpoint/2010/main" val="1349519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BE40-47B0-44F7-8659-02E0EB20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Coursework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AF83-02BD-4F17-8DB1-450F3B649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Code (Programming and Algorithms): This is the fundamental skill. Software engineers are expected to be proficient in one or more programming languages (ex. Python, Java, C++, or JavaScript) and also have a strong grasp of data structures and algorithms.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DB (Databases): Software engineers frequently have to interact with databases to store, retrieve, and manage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Web (Web Development): For roles involving web applications, expertise in web technologies is essential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With the increasing integration of AI, software engineers may need to understand AI/ML concepts.</a:t>
            </a:r>
          </a:p>
        </p:txBody>
      </p:sp>
    </p:spTree>
    <p:extLst>
      <p:ext uri="{BB962C8B-B14F-4D97-AF65-F5344CB8AC3E}">
        <p14:creationId xmlns:p14="http://schemas.microsoft.com/office/powerpoint/2010/main" val="1851406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F707-A09E-4083-BA4C-106745C1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Job growth overtime</a:t>
            </a:r>
          </a:p>
        </p:txBody>
      </p:sp>
      <p:graphicFrame>
        <p:nvGraphicFramePr>
          <p:cNvPr id="7" name="Object 6" descr="Salary overtime for from 2001-2019">
            <a:extLst>
              <a:ext uri="{FF2B5EF4-FFF2-40B4-BE49-F238E27FC236}">
                <a16:creationId xmlns:a16="http://schemas.microsoft.com/office/drawing/2014/main" id="{BCBE5831-EE41-4D2A-ADD1-59FDA546D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918052"/>
              </p:ext>
            </p:extLst>
          </p:nvPr>
        </p:nvGraphicFramePr>
        <p:xfrm>
          <a:off x="2578799" y="1821884"/>
          <a:ext cx="7034402" cy="4226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98" imgH="2752541" progId="Excel.Sheet.12">
                  <p:link updateAutomatic="1"/>
                </p:oleObj>
              </mc:Choice>
              <mc:Fallback>
                <p:oleObj name="Worksheet" r:id="rId2" imgW="4581398" imgH="2752541" progId="Excel.Sheet.12">
                  <p:link updateAutomatic="1"/>
                  <p:pic>
                    <p:nvPicPr>
                      <p:cNvPr id="7" name="Object 6" descr="Salary overtime for from 2001-2019">
                        <a:extLst>
                          <a:ext uri="{FF2B5EF4-FFF2-40B4-BE49-F238E27FC236}">
                            <a16:creationId xmlns:a16="http://schemas.microsoft.com/office/drawing/2014/main" id="{BCBE5831-EE41-4D2A-ADD1-59FDA546D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8799" y="1821884"/>
                        <a:ext cx="7034402" cy="42264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859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06A9-7C18-49F8-A5DA-C69FB18A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F6D73-6622-44A7-B4A2-353D1043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https://github.com/42mcmaster/classProjects/blob/main/careerSpotlightPowerPoint.md</a:t>
            </a:r>
            <a:endParaRPr lang="en-US" dirty="0"/>
          </a:p>
          <a:p>
            <a:r>
              <a:rPr lang="en-US" dirty="0">
                <a:hlinkClick r:id="rId3"/>
              </a:rPr>
              <a:t>https://careerbootcamps.umgc.edu/blog/software-engineering/what-does-a-software-engineer-do/</a:t>
            </a:r>
            <a:endParaRPr lang="en-US" dirty="0"/>
          </a:p>
          <a:p>
            <a:r>
              <a:rPr lang="en-US" dirty="0">
                <a:hlinkClick r:id="rId4"/>
              </a:rPr>
              <a:t>https://www.intuit.com/blog/innovative-thinking/what-does-a-software-engineer-do/</a:t>
            </a:r>
            <a:endParaRPr lang="en-US" dirty="0"/>
          </a:p>
          <a:p>
            <a:r>
              <a:rPr lang="en-US" dirty="0"/>
              <a:t>https://jessup.edu/blog/engineering-technology/what-do-software-engineers-do-on-a-daily-basis/</a:t>
            </a:r>
          </a:p>
        </p:txBody>
      </p:sp>
    </p:spTree>
    <p:extLst>
      <p:ext uri="{BB962C8B-B14F-4D97-AF65-F5344CB8AC3E}">
        <p14:creationId xmlns:p14="http://schemas.microsoft.com/office/powerpoint/2010/main" val="2598573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</TotalTime>
  <Words>339</Words>
  <Application>Microsoft Office PowerPoint</Application>
  <PresentationFormat>Widescreen</PresentationFormat>
  <Paragraphs>38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Retrospect</vt:lpstr>
      <vt:lpstr>https://medinaccc-my.sharepoint.com/personal/mc_mhiggins26_mcjvs2_org/Documents/Higgins_CareerData.xlsx!Sheet1!R5C5</vt:lpstr>
      <vt:lpstr>https://medinaccc-my.sharepoint.com/personal/mc_mhiggins26_mcjvs2_org/Documents/Higgins_CareerData.xlsx!Sheet1![Higgins_CareerData.xlsx]Sheet1 Chart 2</vt:lpstr>
      <vt:lpstr>https://medinaccc-my.sharepoint.com/personal/mc_mhiggins26_mcjvs2_org/Documents/Higgins_CareerData2.xlsx!Sheet1![Higgins_CareerData2.xlsx]Sheet1 Chart 1</vt:lpstr>
      <vt:lpstr>Software Engineering</vt:lpstr>
      <vt:lpstr>What software engineers do</vt:lpstr>
      <vt:lpstr>Education and Skills</vt:lpstr>
      <vt:lpstr>Salary Snapshot</vt:lpstr>
      <vt:lpstr>Job Outlook</vt:lpstr>
      <vt:lpstr>Coursework connection</vt:lpstr>
      <vt:lpstr>Job growth overtime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Higgins, Maxwell</dc:creator>
  <cp:lastModifiedBy>Higgins, Maxwell</cp:lastModifiedBy>
  <cp:revision>5</cp:revision>
  <dcterms:created xsi:type="dcterms:W3CDTF">2025-11-04T13:44:56Z</dcterms:created>
  <dcterms:modified xsi:type="dcterms:W3CDTF">2025-11-04T15:05:51Z</dcterms:modified>
</cp:coreProperties>
</file>