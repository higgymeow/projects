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5" r:id="rId3"/>
    <p:sldId id="257" r:id="rId4"/>
    <p:sldId id="258" r:id="rId5"/>
    <p:sldId id="259" r:id="rId6"/>
    <p:sldId id="261" r:id="rId7"/>
    <p:sldId id="260" r:id="rId8"/>
    <p:sldId id="264" r:id="rId9"/>
    <p:sldId id="262" r:id="rId10"/>
    <p:sldId id="263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2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2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9CEDB-0592-4DDC-984E-845AFE41B5E2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0C945EC3-E71F-45BD-809D-B0AC96756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776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9CEDB-0592-4DDC-984E-845AFE41B5E2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45EC3-E71F-45BD-809D-B0AC96756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8759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54C9CEDB-0592-4DDC-984E-845AFE41B5E2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0C945EC3-E71F-45BD-809D-B0AC96756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1550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9CEDB-0592-4DDC-984E-845AFE41B5E2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45EC3-E71F-45BD-809D-B0AC96756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1859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9CEDB-0592-4DDC-984E-845AFE41B5E2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45EC3-E71F-45BD-809D-B0AC96756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4090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9CEDB-0592-4DDC-984E-845AFE41B5E2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45EC3-E71F-45BD-809D-B0AC96756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215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9CEDB-0592-4DDC-984E-845AFE41B5E2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45EC3-E71F-45BD-809D-B0AC96756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3023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9CEDB-0592-4DDC-984E-845AFE41B5E2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45EC3-E71F-45BD-809D-B0AC96756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219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9CEDB-0592-4DDC-984E-845AFE41B5E2}" type="datetimeFigureOut">
              <a:rPr lang="en-US" smtClean="0"/>
              <a:t>11/6/2025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45EC3-E71F-45BD-809D-B0AC96756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3018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9CEDB-0592-4DDC-984E-845AFE41B5E2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45EC3-E71F-45BD-809D-B0AC96756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1923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9CEDB-0592-4DDC-984E-845AFE41B5E2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45EC3-E71F-45BD-809D-B0AC96756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2603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54C9CEDB-0592-4DDC-984E-845AFE41B5E2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0C945EC3-E71F-45BD-809D-B0AC96756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2962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4DF94-6D2A-498F-8BEF-26EBBF91F9E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CSS basic selectors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DD64C9-5C16-475D-97F2-56589134EED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31235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9AC5D-585D-4FB3-BC99-9281B7B4E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 basic selectors do?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C486CF-E386-44FB-B9CF-C0222C1C60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Basic selectors are patterns used to target and select specific HTML elements on a web page, allowing you to apply CSS styles to those elements</a:t>
            </a:r>
          </a:p>
          <a:p>
            <a:r>
              <a:rPr lang="en-US" sz="4000" dirty="0"/>
              <a:t>They are the fundamental mechanism for linking CSS rules to the HTML structure</a:t>
            </a:r>
          </a:p>
        </p:txBody>
      </p:sp>
    </p:spTree>
    <p:extLst>
      <p:ext uri="{BB962C8B-B14F-4D97-AF65-F5344CB8AC3E}">
        <p14:creationId xmlns:p14="http://schemas.microsoft.com/office/powerpoint/2010/main" val="10497631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45C0F-EAAA-4EFC-9074-8310062FE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Element Selector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126B4E-F4CB-4056-A65E-11D99AAEC9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Targets all elements of a specific type</a:t>
            </a:r>
          </a:p>
          <a:p>
            <a:r>
              <a:rPr lang="en-US" sz="4400" dirty="0"/>
              <a:t>For example:</a:t>
            </a:r>
          </a:p>
          <a:p>
            <a:endParaRPr lang="en-US" sz="4400" dirty="0"/>
          </a:p>
          <a:p>
            <a:r>
              <a:rPr lang="en-US" sz="4400" dirty="0"/>
              <a:t>This applies to every matching element on the page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9746E43F-3D3F-48FF-8A83-4C421EB091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416" y="3591804"/>
            <a:ext cx="11149584" cy="861774"/>
          </a:xfrm>
          <a:prstGeom prst="rect">
            <a:avLst/>
          </a:prstGeom>
          <a:solidFill>
            <a:srgbClr val="151B2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7EE787"/>
                </a:solidFill>
                <a:effectLst/>
                <a:latin typeface="Monaspace Neon"/>
              </a:rPr>
              <a:t>p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0F6FC"/>
                </a:solidFill>
                <a:effectLst/>
                <a:latin typeface="Monaspace Neon"/>
              </a:rPr>
              <a:t> {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79C0FF"/>
                </a:solidFill>
                <a:effectLst/>
                <a:latin typeface="Monaspace Neon"/>
              </a:rPr>
              <a:t>color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0F6FC"/>
                </a:solidFill>
                <a:effectLst/>
                <a:latin typeface="Monaspace Neon"/>
              </a:rPr>
              <a:t>: black;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79C0FF"/>
                </a:solidFill>
                <a:effectLst/>
                <a:latin typeface="Monaspace Neon"/>
              </a:rPr>
              <a:t>line-height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0F6FC"/>
                </a:solidFill>
                <a:effectLst/>
                <a:latin typeface="Monaspace Neon"/>
              </a:rPr>
              <a:t>: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79C0FF"/>
                </a:solidFill>
                <a:effectLst/>
                <a:latin typeface="Monaspace Neon"/>
              </a:rPr>
              <a:t>1.6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0F6FC"/>
                </a:solidFill>
                <a:effectLst/>
                <a:latin typeface="Monaspace Neon"/>
              </a:rPr>
              <a:t>; }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7EE787"/>
                </a:solidFill>
                <a:effectLst/>
                <a:latin typeface="Monaspace Neon"/>
              </a:rPr>
              <a:t>h1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0F6FC"/>
                </a:solidFill>
                <a:effectLst/>
                <a:latin typeface="Monaspace Neon"/>
              </a:rPr>
              <a:t> {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79C0FF"/>
                </a:solidFill>
                <a:effectLst/>
                <a:latin typeface="Monaspace Neon"/>
              </a:rPr>
              <a:t>font-size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0F6FC"/>
                </a:solidFill>
                <a:effectLst/>
                <a:latin typeface="Monaspace Neon"/>
              </a:rPr>
              <a:t>: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79C0FF"/>
                </a:solidFill>
                <a:effectLst/>
                <a:latin typeface="Monaspace Neon"/>
              </a:rPr>
              <a:t>2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0F6FC"/>
                </a:solidFill>
                <a:effectLst/>
                <a:latin typeface="Monaspace Neon"/>
              </a:rPr>
              <a:t>em; }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7EE787"/>
                </a:solidFill>
                <a:effectLst/>
                <a:latin typeface="Monaspace Neon"/>
              </a:rPr>
              <a:t>a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0F6FC"/>
                </a:solidFill>
                <a:effectLst/>
                <a:latin typeface="Monaspace Neon"/>
              </a:rPr>
              <a:t> {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79C0FF"/>
                </a:solidFill>
                <a:effectLst/>
                <a:latin typeface="Monaspace Neon"/>
              </a:rPr>
              <a:t>text-decoration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0F6FC"/>
                </a:solidFill>
                <a:effectLst/>
                <a:latin typeface="Monaspace Neon"/>
              </a:rPr>
              <a:t>: none; }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98388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BE743-D41A-4B0E-8AC2-D86704F44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selector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81C46D-1E23-4CFC-9761-13079BA7F1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3752" y="1792224"/>
            <a:ext cx="10058400" cy="4050792"/>
          </a:xfrm>
        </p:spPr>
        <p:txBody>
          <a:bodyPr>
            <a:normAutofit/>
          </a:bodyPr>
          <a:lstStyle/>
          <a:p>
            <a:r>
              <a:rPr lang="en-US" sz="4800" dirty="0"/>
              <a:t>Targets Class with a specific class attribute.</a:t>
            </a:r>
          </a:p>
          <a:p>
            <a:r>
              <a:rPr lang="en-US" sz="4800" dirty="0"/>
              <a:t>Classes can be reused on multiple elements</a:t>
            </a:r>
          </a:p>
          <a:p>
            <a:endParaRPr lang="en-US" sz="4800" dirty="0"/>
          </a:p>
          <a:p>
            <a:endParaRPr lang="en-US" sz="4800" dirty="0"/>
          </a:p>
          <a:p>
            <a:endParaRPr lang="en-US" sz="4800" dirty="0"/>
          </a:p>
          <a:p>
            <a:endParaRPr lang="en-US" sz="4800" dirty="0"/>
          </a:p>
          <a:p>
            <a:pPr marL="0" indent="0">
              <a:buNone/>
            </a:pPr>
            <a:endParaRPr lang="en-US" sz="4800" dirty="0"/>
          </a:p>
          <a:p>
            <a:pPr marL="0" indent="0">
              <a:buNone/>
            </a:pPr>
            <a:endParaRPr lang="en-US" sz="48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80CDA89-72EF-41F8-9D0E-C6A8435A3A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0056" y="4658082"/>
            <a:ext cx="6918960" cy="1107996"/>
          </a:xfrm>
          <a:prstGeom prst="rect">
            <a:avLst/>
          </a:prstGeom>
          <a:solidFill>
            <a:srgbClr val="151B2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0F6FC"/>
                </a:solidFill>
                <a:effectLst/>
                <a:latin typeface="Monaspace Neon"/>
              </a:rPr>
              <a:t>&lt;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7EE787"/>
                </a:solidFill>
                <a:effectLst/>
                <a:latin typeface="Monaspace Neon"/>
              </a:rPr>
              <a:t>p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0F6FC"/>
                </a:solidFill>
                <a:effectLst/>
                <a:latin typeface="Monaspace Neon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79C0FF"/>
                </a:solidFill>
                <a:effectLst/>
                <a:latin typeface="Monaspace Neon"/>
              </a:rPr>
              <a:t>class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0F6FC"/>
                </a:solidFill>
                <a:effectLst/>
                <a:latin typeface="Monaspace Neon"/>
              </a:rPr>
              <a:t>="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5D6FF"/>
                </a:solidFill>
                <a:effectLst/>
                <a:latin typeface="Monaspace Neon"/>
              </a:rPr>
              <a:t>highlight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0F6FC"/>
                </a:solidFill>
                <a:effectLst/>
                <a:latin typeface="Monaspace Neon"/>
              </a:rPr>
              <a:t>"&gt;This paragraph is highlighted.&lt;/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7EE787"/>
                </a:solidFill>
                <a:effectLst/>
                <a:latin typeface="Monaspace Neon"/>
              </a:rPr>
              <a:t>p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0F6FC"/>
                </a:solidFill>
                <a:effectLst/>
                <a:latin typeface="Monaspace Neon"/>
              </a:rPr>
              <a:t>&gt; &lt;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7EE787"/>
                </a:solidFill>
                <a:effectLst/>
                <a:latin typeface="Monaspace Neon"/>
              </a:rPr>
              <a:t>p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0F6FC"/>
                </a:solidFill>
                <a:effectLst/>
                <a:latin typeface="Monaspace Neon"/>
              </a:rPr>
              <a:t>&gt;This paragraph is not.&lt;/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7EE787"/>
                </a:solidFill>
                <a:effectLst/>
                <a:latin typeface="Monaspace Neon"/>
              </a:rPr>
              <a:t>p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0F6FC"/>
                </a:solidFill>
                <a:effectLst/>
                <a:latin typeface="Monaspace Neon"/>
              </a:rPr>
              <a:t>&gt; &lt;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7EE787"/>
                </a:solidFill>
                <a:effectLst/>
                <a:latin typeface="Monaspace Neon"/>
              </a:rPr>
              <a:t>p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0F6FC"/>
                </a:solidFill>
                <a:effectLst/>
                <a:latin typeface="Monaspace Neon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79C0FF"/>
                </a:solidFill>
                <a:effectLst/>
                <a:latin typeface="Monaspace Neon"/>
              </a:rPr>
              <a:t>class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0F6FC"/>
                </a:solidFill>
                <a:effectLst/>
                <a:latin typeface="Monaspace Neon"/>
              </a:rPr>
              <a:t>="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5D6FF"/>
                </a:solidFill>
                <a:effectLst/>
                <a:latin typeface="Monaspace Neon"/>
              </a:rPr>
              <a:t>highlight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0F6FC"/>
                </a:solidFill>
                <a:effectLst/>
                <a:latin typeface="Monaspace Neon"/>
              </a:rPr>
              <a:t>"&gt;This one is also highlighted.&lt;/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7EE787"/>
                </a:solidFill>
                <a:effectLst/>
                <a:latin typeface="Monaspace Neon"/>
              </a:rPr>
              <a:t>p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0F6FC"/>
                </a:solidFill>
                <a:effectLst/>
                <a:latin typeface="Monaspace Neon"/>
              </a:rPr>
              <a:t>&gt;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1BBF29D7-612B-444F-8A52-1EA70C5853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0056" y="6004036"/>
            <a:ext cx="6918960" cy="738664"/>
          </a:xfrm>
          <a:prstGeom prst="rect">
            <a:avLst/>
          </a:prstGeom>
          <a:solidFill>
            <a:srgbClr val="151B2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0F6FC"/>
                </a:solidFill>
                <a:effectLst/>
                <a:latin typeface="Monaspace Neon"/>
              </a:rPr>
              <a:t>.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79C0FF"/>
                </a:solidFill>
                <a:effectLst/>
                <a:latin typeface="Monaspace Neon"/>
              </a:rPr>
              <a:t>highlight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0F6FC"/>
                </a:solidFill>
                <a:effectLst/>
                <a:latin typeface="Monaspace Neon"/>
              </a:rPr>
              <a:t> {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79C0FF"/>
                </a:solidFill>
                <a:effectLst/>
                <a:latin typeface="Monaspace Neon"/>
              </a:rPr>
              <a:t>background-color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0F6FC"/>
                </a:solidFill>
                <a:effectLst/>
                <a:latin typeface="Monaspace Neon"/>
              </a:rPr>
              <a:t>: yellow;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79C0FF"/>
                </a:solidFill>
                <a:effectLst/>
                <a:latin typeface="Monaspace Neon"/>
              </a:rPr>
              <a:t>font-weight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0F6FC"/>
                </a:solidFill>
                <a:effectLst/>
                <a:latin typeface="Monaspace Neon"/>
              </a:rPr>
              <a:t>: bold; }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71424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F79D8-25D8-4A05-97C5-083115408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 selector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0F92B0-EAC4-429B-847D-1ED0D1EF31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Targets a single element with a specific ID</a:t>
            </a:r>
          </a:p>
          <a:p>
            <a:r>
              <a:rPr lang="en-US" sz="4800" dirty="0"/>
              <a:t>IDs must be unique on a page</a:t>
            </a:r>
          </a:p>
          <a:p>
            <a:endParaRPr lang="en-US" sz="48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F64F68F-DE4E-41AF-B2EC-4D36DDE33A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5682820"/>
            <a:ext cx="5410200" cy="861774"/>
          </a:xfrm>
          <a:prstGeom prst="rect">
            <a:avLst/>
          </a:prstGeom>
          <a:solidFill>
            <a:srgbClr val="151B2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0F6FC"/>
                </a:solidFill>
                <a:effectLst/>
                <a:latin typeface="Monaspace Neon"/>
              </a:rPr>
              <a:t>&lt;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7EE787"/>
                </a:solidFill>
                <a:effectLst/>
                <a:latin typeface="Monaspace Neon"/>
              </a:rPr>
              <a:t>header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0F6FC"/>
                </a:solidFill>
                <a:effectLst/>
                <a:latin typeface="Monaspace Neon"/>
              </a:rPr>
              <a:t>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79C0FF"/>
                </a:solidFill>
                <a:effectLst/>
                <a:latin typeface="Monaspace Neon"/>
              </a:rPr>
              <a:t>id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0F6FC"/>
                </a:solidFill>
                <a:effectLst/>
                <a:latin typeface="Monaspace Neon"/>
              </a:rPr>
              <a:t>="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5D6FF"/>
                </a:solidFill>
                <a:effectLst/>
                <a:latin typeface="Monaspace Neon"/>
              </a:rPr>
              <a:t>main-header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0F6FC"/>
                </a:solidFill>
                <a:effectLst/>
                <a:latin typeface="Monaspace Neon"/>
              </a:rPr>
              <a:t>"&gt; &lt;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7EE787"/>
                </a:solidFill>
                <a:effectLst/>
                <a:latin typeface="Monaspace Neon"/>
              </a:rPr>
              <a:t>h1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0F6FC"/>
                </a:solidFill>
                <a:effectLst/>
                <a:latin typeface="Monaspace Neon"/>
              </a:rPr>
              <a:t>&gt;My Website&lt;/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7EE787"/>
                </a:solidFill>
                <a:effectLst/>
                <a:latin typeface="Monaspace Neon"/>
              </a:rPr>
              <a:t>h1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0F6FC"/>
                </a:solidFill>
                <a:effectLst/>
                <a:latin typeface="Monaspace Neon"/>
              </a:rPr>
              <a:t>&gt; &lt;/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7EE787"/>
                </a:solidFill>
                <a:effectLst/>
                <a:latin typeface="Monaspace Neon"/>
              </a:rPr>
              <a:t>header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0F6FC"/>
                </a:solidFill>
                <a:effectLst/>
                <a:latin typeface="Monaspace Neon"/>
              </a:rPr>
              <a:t>&gt;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28FBC8B-62CF-40CB-BFEF-B8E280EAC1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4565638"/>
            <a:ext cx="5410200" cy="861774"/>
          </a:xfrm>
          <a:prstGeom prst="rect">
            <a:avLst/>
          </a:prstGeom>
          <a:solidFill>
            <a:srgbClr val="151B2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0F6FC"/>
                </a:solidFill>
                <a:effectLst/>
                <a:latin typeface="Monaspace Neon"/>
              </a:rPr>
              <a:t>#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79C0FF"/>
                </a:solidFill>
                <a:effectLst/>
                <a:latin typeface="Monaspace Neon"/>
              </a:rPr>
              <a:t>main-header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0F6FC"/>
                </a:solidFill>
                <a:effectLst/>
                <a:latin typeface="Monaspace Neon"/>
              </a:rPr>
              <a:t> {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79C0FF"/>
                </a:solidFill>
                <a:effectLst/>
                <a:latin typeface="Monaspace Neon"/>
              </a:rPr>
              <a:t>background-color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0F6FC"/>
                </a:solidFill>
                <a:effectLst/>
                <a:latin typeface="Monaspace Neon"/>
              </a:rPr>
              <a:t>: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5D6FF"/>
                </a:solidFill>
                <a:effectLst/>
                <a:latin typeface="Monaspace Neon"/>
              </a:rPr>
              <a:t>#333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0F6FC"/>
                </a:solidFill>
                <a:effectLst/>
                <a:latin typeface="Monaspace Neon"/>
              </a:rPr>
              <a:t>;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79C0FF"/>
                </a:solidFill>
                <a:effectLst/>
                <a:latin typeface="Monaspace Neon"/>
              </a:rPr>
              <a:t>color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0F6FC"/>
                </a:solidFill>
                <a:effectLst/>
                <a:latin typeface="Monaspace Neon"/>
              </a:rPr>
              <a:t>: white;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79C0FF"/>
                </a:solidFill>
                <a:effectLst/>
                <a:latin typeface="Monaspace Neon"/>
              </a:rPr>
              <a:t>padding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0F6FC"/>
                </a:solidFill>
                <a:effectLst/>
                <a:latin typeface="Monaspace Neon"/>
              </a:rPr>
              <a:t>: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79C0FF"/>
                </a:solidFill>
                <a:effectLst/>
                <a:latin typeface="Monaspace Neon"/>
              </a:rPr>
              <a:t>20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0F6FC"/>
                </a:solidFill>
                <a:effectLst/>
                <a:latin typeface="Monaspace Neon"/>
              </a:rPr>
              <a:t>px; }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75513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21B9F-E167-4922-8B2C-ED748EA62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to use Ids vs 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37327B-D17F-4DA0-89D8-A5AC2BF4FD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Use </a:t>
            </a:r>
            <a:r>
              <a:rPr lang="en-US" sz="4000" b="1" dirty="0"/>
              <a:t>classes </a:t>
            </a:r>
            <a:r>
              <a:rPr lang="en-US" sz="4000" dirty="0"/>
              <a:t>for styles that might be reused</a:t>
            </a:r>
          </a:p>
          <a:p>
            <a:r>
              <a:rPr lang="en-US" sz="4000" dirty="0"/>
              <a:t>Use </a:t>
            </a:r>
            <a:r>
              <a:rPr lang="en-US" sz="4000" b="1" dirty="0"/>
              <a:t>IDs</a:t>
            </a:r>
            <a:r>
              <a:rPr lang="en-US" sz="4000" dirty="0"/>
              <a:t> for unique page elements (headers, main content areas)</a:t>
            </a:r>
          </a:p>
          <a:p>
            <a:r>
              <a:rPr lang="en-US" sz="4000" dirty="0"/>
              <a:t>Use </a:t>
            </a:r>
            <a:r>
              <a:rPr lang="en-US" sz="4000" b="1" dirty="0"/>
              <a:t>IDs</a:t>
            </a:r>
            <a:r>
              <a:rPr lang="en-US" sz="4000" dirty="0"/>
              <a:t> for JavaScript targeting and anchor links</a:t>
            </a:r>
          </a:p>
        </p:txBody>
      </p:sp>
    </p:spTree>
    <p:extLst>
      <p:ext uri="{BB962C8B-B14F-4D97-AF65-F5344CB8AC3E}">
        <p14:creationId xmlns:p14="http://schemas.microsoft.com/office/powerpoint/2010/main" val="28620216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30DFF-02F0-41C8-A09F-48206EB0E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Universal selector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9FB720-D0FB-4B0C-A451-08AA76EA53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Targets </a:t>
            </a:r>
            <a:r>
              <a:rPr lang="en-US" sz="4400" b="1" dirty="0"/>
              <a:t>every</a:t>
            </a:r>
            <a:r>
              <a:rPr lang="en-US" sz="4400" dirty="0"/>
              <a:t> element on the page</a:t>
            </a:r>
          </a:p>
          <a:p>
            <a:r>
              <a:rPr lang="en-US" sz="4400" dirty="0"/>
              <a:t>Use sparingly as it can impact performance on large pages</a:t>
            </a:r>
          </a:p>
          <a:p>
            <a:r>
              <a:rPr lang="en-US" sz="4400" dirty="0"/>
              <a:t>Example: 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3171FC8-DB2A-4F29-8427-2668B5540C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0912" y="5005626"/>
            <a:ext cx="2612136" cy="1723549"/>
          </a:xfrm>
          <a:prstGeom prst="rect">
            <a:avLst/>
          </a:prstGeom>
          <a:solidFill>
            <a:srgbClr val="151B2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79C0FF"/>
                </a:solidFill>
                <a:effectLst/>
                <a:latin typeface="Monaspace Neon"/>
              </a:rPr>
              <a:t>*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0F6FC"/>
                </a:solidFill>
                <a:effectLst/>
                <a:latin typeface="Monaspace Neon"/>
              </a:rPr>
              <a:t> {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79C0FF"/>
                </a:solidFill>
                <a:effectLst/>
                <a:latin typeface="Monaspace Neon"/>
              </a:rPr>
              <a:t>margin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0F6FC"/>
                </a:solidFill>
                <a:effectLst/>
                <a:latin typeface="Monaspace Neon"/>
              </a:rPr>
              <a:t>: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79C0FF"/>
                </a:solidFill>
                <a:effectLst/>
                <a:latin typeface="Monaspace Neon"/>
              </a:rPr>
              <a:t>0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0F6FC"/>
                </a:solidFill>
                <a:effectLst/>
                <a:latin typeface="Monaspace Neon"/>
              </a:rPr>
              <a:t>;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79C0FF"/>
                </a:solidFill>
                <a:effectLst/>
                <a:latin typeface="Monaspace Neon"/>
              </a:rPr>
              <a:t>padding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0F6FC"/>
                </a:solidFill>
                <a:effectLst/>
                <a:latin typeface="Monaspace Neon"/>
              </a:rPr>
              <a:t>: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79C0FF"/>
                </a:solidFill>
                <a:effectLst/>
                <a:latin typeface="Monaspace Neon"/>
              </a:rPr>
              <a:t>0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0F6FC"/>
                </a:solidFill>
                <a:effectLst/>
                <a:latin typeface="Monaspace Neon"/>
              </a:rPr>
              <a:t>;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79C0FF"/>
                </a:solidFill>
                <a:effectLst/>
                <a:latin typeface="Monaspace Neon"/>
              </a:rPr>
              <a:t>box-sizing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0F6FC"/>
                </a:solidFill>
                <a:effectLst/>
                <a:latin typeface="Monaspace Neon"/>
              </a:rPr>
              <a:t>: border-box; }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48893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72816-BAEE-45A8-A10D-409385FBB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mistakes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167F3D-75F2-482C-99DA-AF2328183E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Forgetting the </a:t>
            </a:r>
            <a:r>
              <a:rPr lang="en-US" sz="4400" b="1" dirty="0"/>
              <a:t>#</a:t>
            </a:r>
            <a:r>
              <a:rPr lang="en-US" sz="4400" dirty="0"/>
              <a:t> for ID selectors</a:t>
            </a:r>
          </a:p>
          <a:p>
            <a:r>
              <a:rPr lang="en-US" sz="4400" dirty="0"/>
              <a:t>Forgetting the </a:t>
            </a:r>
            <a:r>
              <a:rPr lang="en-US" sz="4400" b="1" dirty="0"/>
              <a:t>.</a:t>
            </a:r>
            <a:r>
              <a:rPr lang="en-US" sz="4400" dirty="0"/>
              <a:t> For class selectors</a:t>
            </a:r>
          </a:p>
        </p:txBody>
      </p:sp>
    </p:spTree>
    <p:extLst>
      <p:ext uri="{BB962C8B-B14F-4D97-AF65-F5344CB8AC3E}">
        <p14:creationId xmlns:p14="http://schemas.microsoft.com/office/powerpoint/2010/main" val="16225578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430DE-A200-44EF-BE6B-30224AFE0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Grouping selectors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49D21F-0EBE-44CC-986F-BC252B96F3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Apply the same styles to multiple selectors:</a:t>
            </a:r>
          </a:p>
          <a:p>
            <a:pPr marL="0" indent="0">
              <a:buNone/>
            </a:pPr>
            <a:endParaRPr lang="en-US" sz="36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48A9046-73E1-4E40-8148-0ED5CF4C3F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3752" y="3199282"/>
            <a:ext cx="9954768" cy="861774"/>
          </a:xfrm>
          <a:prstGeom prst="rect">
            <a:avLst/>
          </a:prstGeom>
          <a:solidFill>
            <a:srgbClr val="151B2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7EE787"/>
                </a:solidFill>
                <a:effectLst/>
                <a:latin typeface="Monaspace Neon"/>
              </a:rPr>
              <a:t>h1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0F6FC"/>
                </a:solidFill>
                <a:effectLst/>
                <a:latin typeface="Monaspace Neon"/>
              </a:rPr>
              <a:t>,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7EE787"/>
                </a:solidFill>
                <a:effectLst/>
                <a:latin typeface="Monaspace Neon"/>
              </a:rPr>
              <a:t>h2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0F6FC"/>
                </a:solidFill>
                <a:effectLst/>
                <a:latin typeface="Monaspace Neon"/>
              </a:rPr>
              <a:t>,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7EE787"/>
                </a:solidFill>
                <a:effectLst/>
                <a:latin typeface="Monaspace Neon"/>
              </a:rPr>
              <a:t>h3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0F6FC"/>
                </a:solidFill>
                <a:effectLst/>
                <a:latin typeface="Monaspace Neon"/>
              </a:rPr>
              <a:t>,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7EE787"/>
                </a:solidFill>
                <a:effectLst/>
                <a:latin typeface="Monaspace Neon"/>
              </a:rPr>
              <a:t>h4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0F6FC"/>
                </a:solidFill>
                <a:effectLst/>
                <a:latin typeface="Monaspace Neon"/>
              </a:rPr>
              <a:t>,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7EE787"/>
                </a:solidFill>
                <a:effectLst/>
                <a:latin typeface="Monaspace Neon"/>
              </a:rPr>
              <a:t>h5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0F6FC"/>
                </a:solidFill>
                <a:effectLst/>
                <a:latin typeface="Monaspace Neon"/>
              </a:rPr>
              <a:t>,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7EE787"/>
                </a:solidFill>
                <a:effectLst/>
                <a:latin typeface="Monaspace Neon"/>
              </a:rPr>
              <a:t>h6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0F6FC"/>
                </a:solidFill>
                <a:effectLst/>
                <a:latin typeface="Monaspace Neon"/>
              </a:rPr>
              <a:t> {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79C0FF"/>
                </a:solidFill>
                <a:effectLst/>
                <a:latin typeface="Monaspace Neon"/>
              </a:rPr>
              <a:t>font-family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0F6FC"/>
                </a:solidFill>
                <a:effectLst/>
                <a:latin typeface="Monaspace Neon"/>
              </a:rPr>
              <a:t>: Georgia, serif;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79C0FF"/>
                </a:solidFill>
                <a:effectLst/>
                <a:latin typeface="Monaspace Neon"/>
              </a:rPr>
              <a:t>color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0F6FC"/>
                </a:solidFill>
                <a:effectLst/>
                <a:latin typeface="Monaspace Neon"/>
              </a:rPr>
              <a:t>: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5D6FF"/>
                </a:solidFill>
                <a:effectLst/>
                <a:latin typeface="Monaspace Neon"/>
              </a:rPr>
              <a:t>#333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0F6FC"/>
                </a:solidFill>
                <a:effectLst/>
                <a:latin typeface="Monaspace Neon"/>
              </a:rPr>
              <a:t>; } .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79C0FF"/>
                </a:solidFill>
                <a:effectLst/>
                <a:latin typeface="Monaspace Neon"/>
              </a:rPr>
              <a:t>button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0F6FC"/>
                </a:solidFill>
                <a:effectLst/>
                <a:latin typeface="Monaspace Neon"/>
              </a:rPr>
              <a:t>, .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79C0FF"/>
                </a:solidFill>
                <a:effectLst/>
                <a:latin typeface="Monaspace Neon"/>
              </a:rPr>
              <a:t>link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0F6FC"/>
                </a:solidFill>
                <a:effectLst/>
                <a:latin typeface="Monaspace Neon"/>
              </a:rPr>
              <a:t>, .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79C0FF"/>
                </a:solidFill>
                <a:effectLst/>
                <a:latin typeface="Monaspace Neon"/>
              </a:rPr>
              <a:t>clickable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0F6FC"/>
                </a:solidFill>
                <a:effectLst/>
                <a:latin typeface="Monaspace Neon"/>
              </a:rPr>
              <a:t> {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79C0FF"/>
                </a:solidFill>
                <a:effectLst/>
                <a:latin typeface="Monaspace Neon"/>
              </a:rPr>
              <a:t>cursor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0F6FC"/>
                </a:solidFill>
                <a:effectLst/>
                <a:latin typeface="Monaspace Neon"/>
              </a:rPr>
              <a:t>: pointer; }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27302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14E34-F192-4770-AF79-5A2585D35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A073C-1C60-4A80-BA02-169B5499EF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Mastering selectors is the foundation for effective styling and specificity</a:t>
            </a:r>
          </a:p>
          <a:p>
            <a:pPr marL="0" indent="0">
              <a:buNone/>
            </a:pP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94159383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28</TotalTime>
  <Words>354</Words>
  <Application>Microsoft Office PowerPoint</Application>
  <PresentationFormat>Widescreen</PresentationFormat>
  <Paragraphs>41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Monaspace Neon</vt:lpstr>
      <vt:lpstr>Rockwell</vt:lpstr>
      <vt:lpstr>Rockwell Condensed</vt:lpstr>
      <vt:lpstr>Wingdings</vt:lpstr>
      <vt:lpstr>Wood Type</vt:lpstr>
      <vt:lpstr>CSS basic selectors</vt:lpstr>
      <vt:lpstr>What do basic selectors do?</vt:lpstr>
      <vt:lpstr>Element Selector</vt:lpstr>
      <vt:lpstr>Class selector</vt:lpstr>
      <vt:lpstr>ID selector</vt:lpstr>
      <vt:lpstr>When to use Ids vs classes</vt:lpstr>
      <vt:lpstr>Universal selector</vt:lpstr>
      <vt:lpstr>Common mistakes</vt:lpstr>
      <vt:lpstr>Grouping selectors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CSS basic selectors</dc:title>
  <dc:creator>Higgins, Maxwell</dc:creator>
  <cp:lastModifiedBy>Higgins, Maxwell</cp:lastModifiedBy>
  <cp:revision>4</cp:revision>
  <dcterms:created xsi:type="dcterms:W3CDTF">2025-11-06T13:09:32Z</dcterms:created>
  <dcterms:modified xsi:type="dcterms:W3CDTF">2025-11-06T13:37:42Z</dcterms:modified>
</cp:coreProperties>
</file>